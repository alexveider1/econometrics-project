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2" r:id="rId1"/>
  </p:sldMasterIdLst>
  <p:notesMasterIdLst>
    <p:notesMasterId r:id="rId21"/>
  </p:notesMasterIdLst>
  <p:sldIdLst>
    <p:sldId id="298" r:id="rId2"/>
    <p:sldId id="299" r:id="rId3"/>
    <p:sldId id="300" r:id="rId4"/>
    <p:sldId id="301" r:id="rId5"/>
    <p:sldId id="302" r:id="rId6"/>
    <p:sldId id="303" r:id="rId7"/>
    <p:sldId id="304" r:id="rId8"/>
    <p:sldId id="305" r:id="rId9"/>
    <p:sldId id="306" r:id="rId10"/>
    <p:sldId id="307" r:id="rId11"/>
    <p:sldId id="308" r:id="rId12"/>
    <p:sldId id="309" r:id="rId13"/>
    <p:sldId id="310" r:id="rId14"/>
    <p:sldId id="311" r:id="rId15"/>
    <p:sldId id="312" r:id="rId16"/>
    <p:sldId id="313" r:id="rId17"/>
    <p:sldId id="314" r:id="rId18"/>
    <p:sldId id="317" r:id="rId19"/>
    <p:sldId id="316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jrFOMK7ZbQ2xBh6i/2EWi8W12v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197" autoAdjust="0"/>
    <p:restoredTop sz="94660"/>
  </p:normalViewPr>
  <p:slideViewPr>
    <p:cSldViewPr snapToGrid="0">
      <p:cViewPr varScale="1">
        <p:scale>
          <a:sx n="73" d="100"/>
          <a:sy n="73" d="100"/>
        </p:scale>
        <p:origin x="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dbe69b42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dbe69b425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dd71485e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dd71485e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dd71485e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dd71485e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dde261b16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dde261b16_2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533f5f231e54c39a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533f5f231e54c39a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dde261b1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ddde261b16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533f5f231e54c39a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533f5f231e54c39a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dd71485e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ddd71485e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ddd71485ef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ddd71485ef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ddd71485ef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ddd71485ef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dd71485e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ddd71485e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ddd71485ef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ddd71485ef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ddd71485ef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ddd71485ef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dd71485ef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dd71485ef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dd71485ef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dd71485ef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dbe69b42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dbe69b42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ddbe69b42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ddbe69b42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8FE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991" name="AccentBar"/>
          <p:cNvSpPr>
            <a:spLocks noGrp="1"/>
          </p:cNvSpPr>
          <p:nvPr userDrawn="1"/>
        </p:nvSpPr>
        <p:spPr>
          <a:xfrm>
            <a:off x="0" y="6553200"/>
            <a:ext cx="1828800" cy="38100"/>
          </a:xfrm>
          <a:prstGeom prst="rect">
            <a:avLst/>
          </a:prstGeom>
          <a:solidFill>
            <a:srgbClr val="3B82C4"/>
          </a:solidFill>
          <a:ln>
            <a:noFill/>
          </a:ln>
        </p:spPr>
        <p:txBody>
          <a:bodyPr wrap="square" rtlCol="0" anchor="ctr"/>
          <a:lstStyle/>
          <a:p>
            <a:endParaRPr lang="en-US"/>
          </a:p>
        </p:txBody>
      </p:sp>
      <p:sp>
        <p:nvSpPr>
          <p:cNvPr id="9992" name="TopKeyline"/>
          <p:cNvSpPr>
            <a:spLocks noGrp="1"/>
          </p:cNvSpPr>
          <p:nvPr userDrawn="1"/>
        </p:nvSpPr>
        <p:spPr>
          <a:xfrm>
            <a:off x="7315200" y="304800"/>
            <a:ext cx="1524000" cy="12700"/>
          </a:xfrm>
          <a:prstGeom prst="rect">
            <a:avLst/>
          </a:prstGeom>
          <a:solidFill>
            <a:srgbClr val="9DC8E8"/>
          </a:solidFill>
          <a:ln>
            <a:noFill/>
          </a:ln>
        </p:spPr>
        <p:txBody>
          <a:bodyPr wrap="square" rtlCol="0" anchor="ctr"/>
          <a:lstStyle/>
          <a:p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algn="ctr">
              <a:buNone/>
            </a:pPr>
            <a:r>
              <a:rPr lang="ru-RU" sz="4000" b="0" dirty="0">
                <a:solidFill>
                  <a:srgbClr val="1B3A5C"/>
                </a:solidFill>
              </a:rPr>
              <a:t>Высшее образование и здоровье</a:t>
            </a:r>
          </a:p>
          <a:p>
            <a:pPr algn="ctr">
              <a:spcBef>
                <a:spcPts val="600"/>
              </a:spcBef>
              <a:buNone/>
            </a:pPr>
            <a:r>
              <a:rPr lang="ru-RU" sz="2600" i="1" dirty="0">
                <a:solidFill>
                  <a:srgbClr val="2E5984"/>
                </a:solidFill>
              </a:rPr>
              <a:t>Причинно-следственная связь</a:t>
            </a: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algn="ctr">
              <a:buNone/>
            </a:pPr>
            <a:r>
              <a:rPr lang="ru-RU" sz="2200" dirty="0">
                <a:solidFill>
                  <a:srgbClr val="2E5984"/>
                </a:solidFill>
              </a:rPr>
              <a:t>А. Карасев · Л. Панчеха · М. Удовиченко</a:t>
            </a:r>
          </a:p>
        </p:txBody>
      </p:sp>
    </p:spTree>
    <p:extLst>
      <p:ext uri="{BB962C8B-B14F-4D97-AF65-F5344CB8AC3E}">
        <p14:creationId xmlns:p14="http://schemas.microsoft.com/office/powerpoint/2010/main" val="1283429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l">
              <a:buNone/>
            </a:pPr>
            <a:r>
              <a:rPr lang="ru-RU" sz="5400" b="0" dirty="0">
                <a:solidFill>
                  <a:srgbClr val="1B3A5C"/>
                </a:solidFill>
              </a:rPr>
              <a:t>План</a:t>
            </a:r>
          </a:p>
        </p:txBody>
      </p:sp>
      <p:sp>
        <p:nvSpPr>
          <p:cNvPr id="91" name="Google Shape;91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01    </a:t>
            </a:r>
            <a:r>
              <a:rPr lang="ru-RU" sz="2600" dirty="0">
                <a:solidFill>
                  <a:srgbClr val="1B3A5C"/>
                </a:solidFill>
              </a:rPr>
              <a:t>Введение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02    </a:t>
            </a:r>
            <a:r>
              <a:rPr lang="ru-RU" sz="2600" dirty="0">
                <a:solidFill>
                  <a:srgbClr val="1B3A5C"/>
                </a:solidFill>
              </a:rPr>
              <a:t>Исходная статья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03    </a:t>
            </a:r>
            <a:r>
              <a:rPr lang="ru-RU" sz="2600" dirty="0">
                <a:solidFill>
                  <a:srgbClr val="1B3A5C"/>
                </a:solidFill>
              </a:rPr>
              <a:t>EDA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04    </a:t>
            </a:r>
            <a:r>
              <a:rPr lang="ru-RU" sz="2600" dirty="0">
                <a:solidFill>
                  <a:srgbClr val="1B3A5C"/>
                </a:solidFill>
              </a:rPr>
              <a:t>Probit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05    </a:t>
            </a:r>
            <a:r>
              <a:rPr lang="ru-RU" sz="2600" dirty="0">
                <a:solidFill>
                  <a:srgbClr val="1B3A5C"/>
                </a:solidFill>
              </a:rPr>
              <a:t>Мэтчинг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06    </a:t>
            </a:r>
            <a:r>
              <a:rPr lang="ru-RU" sz="2600" dirty="0">
                <a:solidFill>
                  <a:srgbClr val="1B3A5C"/>
                </a:solidFill>
              </a:rPr>
              <a:t>Double ML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07    </a:t>
            </a:r>
            <a:r>
              <a:rPr lang="ru-RU" sz="2600" dirty="0">
                <a:solidFill>
                  <a:srgbClr val="1B3A5C"/>
                </a:solidFill>
              </a:rPr>
              <a:t>Использование AI</a:t>
            </a:r>
          </a:p>
          <a:p>
            <a:pPr marL="0" indent="0">
              <a:lnSpc>
                <a:spcPts val="2800"/>
              </a:lnSpc>
              <a:spcBef>
                <a:spcPts val="200"/>
              </a:spcBef>
              <a:buNone/>
            </a:pPr>
            <a:r>
              <a:rPr lang="en-US" sz="2200" b="1" dirty="0">
                <a:solidFill>
                  <a:srgbClr val="5B8DBF"/>
                </a:solidFill>
              </a:rPr>
              <a:t>08    </a:t>
            </a:r>
            <a:r>
              <a:rPr lang="ru-RU" sz="2600" dirty="0">
                <a:solidFill>
                  <a:srgbClr val="1B3A5C"/>
                </a:solidFill>
              </a:rPr>
              <a:t>Выводы</a:t>
            </a:r>
          </a:p>
        </p:txBody>
      </p:sp>
    </p:spTree>
    <p:extLst>
      <p:ext uri="{BB962C8B-B14F-4D97-AF65-F5344CB8AC3E}">
        <p14:creationId xmlns:p14="http://schemas.microsoft.com/office/powerpoint/2010/main" val="3879331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dbe69b425_1_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Введение</a:t>
            </a:r>
          </a:p>
        </p:txBody>
      </p:sp>
      <p:sp>
        <p:nvSpPr>
          <p:cNvPr id="97" name="Google Shape;97;g3ddbe69b425_1_1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3000"/>
              </a:lnSpc>
              <a:spcAft>
                <a:spcPts val="600"/>
              </a:spcAft>
              <a:buNone/>
            </a:pPr>
            <a:r>
              <a:rPr lang="ru-RU" sz="2800" b="1" dirty="0">
                <a:solidFill>
                  <a:srgbClr val="2E5984"/>
                </a:solidFill>
              </a:rPr>
              <a:t>Цель проекта </a:t>
            </a:r>
            <a:r>
              <a:rPr lang="ru-RU" sz="2800" dirty="0">
                <a:solidFill>
                  <a:srgbClr val="1B3A5C"/>
                </a:solidFill>
              </a:rPr>
              <a:t>— проверить, есть ли статистически значимый эффект высшего образования на здоровье индивидов.</a:t>
            </a:r>
          </a:p>
          <a:p>
            <a:pPr>
              <a:lnSpc>
                <a:spcPts val="2800"/>
              </a:lnSpc>
              <a:spcBef>
                <a:spcPts val="600"/>
              </a:spcBef>
              <a:buNone/>
            </a:pPr>
            <a:r>
              <a:rPr lang="ru-RU" sz="2200" i="1" dirty="0">
                <a:solidFill>
                  <a:srgbClr val="2E5984"/>
                </a:solidFill>
              </a:rPr>
              <a:t>Эффект измеряется как причинно-следственная связь между фактом наличия диплома и заболеваниями из рассматриваемого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03546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ddd71485ef_0_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Введение</a:t>
            </a:r>
          </a:p>
        </p:txBody>
      </p:sp>
      <p:sp>
        <p:nvSpPr>
          <p:cNvPr id="103" name="Google Shape;103;g3ddd71485ef_0_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2600"/>
              </a:lnSpc>
              <a:spcAft>
                <a:spcPts val="400"/>
              </a:spcAft>
              <a:buNone/>
            </a:pPr>
            <a:r>
              <a:rPr lang="ru-RU" sz="2200" dirty="0">
                <a:solidFill>
                  <a:srgbClr val="1B3A5C"/>
                </a:solidFill>
              </a:rPr>
              <a:t>Сравниваем три метода выявления причинно-следственной связи: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—"/>
            </a:pPr>
            <a:r>
              <a:rPr lang="ru-RU" sz="2200" b="1" dirty="0">
                <a:solidFill>
                  <a:srgbClr val="2E5984"/>
                </a:solidFill>
              </a:rPr>
              <a:t>Многомерная рекурсивная пробит-модель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—"/>
            </a:pPr>
            <a:r>
              <a:rPr lang="ru-RU" sz="2200" b="1" dirty="0">
                <a:solidFill>
                  <a:srgbClr val="2E5984"/>
                </a:solidFill>
              </a:rPr>
              <a:t>Мэтчинг </a:t>
            </a:r>
            <a:r>
              <a:rPr lang="ru-RU" sz="2000" dirty="0">
                <a:solidFill>
                  <a:srgbClr val="2E5984"/>
                </a:solidFill>
              </a:rPr>
              <a:t>(Mahalanobis distance + Propensity Score)</a:t>
            </a:r>
          </a:p>
          <a:p>
            <a:pPr marL="285750" indent="-285750">
              <a:lnSpc>
                <a:spcPts val="24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—"/>
            </a:pPr>
            <a:r>
              <a:rPr lang="en-US" sz="2200" b="1" dirty="0">
                <a:solidFill>
                  <a:srgbClr val="2E5984"/>
                </a:solidFill>
              </a:rPr>
              <a:t>Double ML</a:t>
            </a:r>
          </a:p>
          <a:p>
            <a:pPr>
              <a:lnSpc>
                <a:spcPts val="2400"/>
              </a:lnSpc>
              <a:spcBef>
                <a:spcPts val="800"/>
              </a:spcBef>
              <a:buNone/>
            </a:pPr>
            <a:r>
              <a:rPr lang="ru-RU" sz="2000" i="1" dirty="0">
                <a:solidFill>
                  <a:srgbClr val="3D6A94"/>
                </a:solidFill>
              </a:rPr>
              <a:t>Идея: несколько подходов сразу — оценки получаются надёжнее.</a:t>
            </a:r>
          </a:p>
        </p:txBody>
      </p:sp>
    </p:spTree>
    <p:extLst>
      <p:ext uri="{BB962C8B-B14F-4D97-AF65-F5344CB8AC3E}">
        <p14:creationId xmlns:p14="http://schemas.microsoft.com/office/powerpoint/2010/main" val="3742326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dd71485ef_0_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Исходная статья</a:t>
            </a:r>
          </a:p>
        </p:txBody>
      </p:sp>
      <p:sp>
        <p:nvSpPr>
          <p:cNvPr id="110" name="Google Shape;110;g3ddd71485ef_0_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2200"/>
              </a:lnSpc>
              <a:spcAft>
                <a:spcPts val="500"/>
              </a:spcAft>
              <a:buNone/>
            </a:pPr>
            <a:r>
              <a:rPr lang="ru-RU" sz="2000" i="1" dirty="0">
                <a:solidFill>
                  <a:srgbClr val="2E5984"/>
                </a:solidFill>
              </a:rPr>
              <a:t>Е. Коссова, М. Косорукова. </a:t>
            </a:r>
            <a:r>
              <a:rPr lang="ru-RU" sz="2000" i="1" dirty="0">
                <a:solidFill>
                  <a:srgbClr val="1B3A5C"/>
                </a:solidFill>
              </a:rPr>
              <a:t>«Оценивание влияния высшего образования на здоровье: сравнение многомерной рекурсивной пробит-модели и мэтчинга»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000" dirty="0">
                <a:solidFill>
                  <a:srgbClr val="1B3A5C"/>
                </a:solidFill>
              </a:rPr>
              <a:t>Данные по России за </a:t>
            </a:r>
            <a:r>
              <a:rPr lang="ru-RU" sz="2000" b="1" dirty="0">
                <a:solidFill>
                  <a:srgbClr val="1B3A5C"/>
                </a:solidFill>
              </a:rPr>
              <a:t>2019 год</a:t>
            </a:r>
            <a:r>
              <a:rPr lang="ru-RU" sz="2000" dirty="0">
                <a:solidFill>
                  <a:srgbClr val="1B3A5C"/>
                </a:solidFill>
              </a:rPr>
              <a:t>; авторы сравнивают пробит-модель и мэтчинг.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000" b="1" dirty="0">
                <a:solidFill>
                  <a:srgbClr val="2E5984"/>
                </a:solidFill>
              </a:rPr>
              <a:t>У женщин </a:t>
            </a:r>
            <a:r>
              <a:rPr lang="ru-RU" sz="2000" dirty="0">
                <a:solidFill>
                  <a:srgbClr val="1B3A5C"/>
                </a:solidFill>
              </a:rPr>
              <a:t>образование снижает вероятность гипертонии и ожирения, но повышает риск глазных заболеваний и аллергии.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000" b="1" dirty="0">
                <a:solidFill>
                  <a:srgbClr val="2E5984"/>
                </a:solidFill>
              </a:rPr>
              <a:t>У мужчин </a:t>
            </a:r>
            <a:r>
              <a:rPr lang="ru-RU" sz="2000" dirty="0">
                <a:solidFill>
                  <a:srgbClr val="1B3A5C"/>
                </a:solidFill>
              </a:rPr>
              <a:t>уменьшается шанс оценить своё здоровье как «очень хорошее».</a:t>
            </a:r>
          </a:p>
          <a:p>
            <a:pPr marL="228600" indent="-228600">
              <a:lnSpc>
                <a:spcPts val="22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000" dirty="0">
                <a:solidFill>
                  <a:srgbClr val="1B3A5C"/>
                </a:solidFill>
              </a:rPr>
              <a:t>Вывод авторов: разные методы стоит применять </a:t>
            </a:r>
            <a:r>
              <a:rPr lang="ru-RU" sz="2000" b="1" dirty="0">
                <a:solidFill>
                  <a:srgbClr val="1B3A5C"/>
                </a:solidFill>
              </a:rPr>
              <a:t>одновременно</a:t>
            </a:r>
            <a:r>
              <a:rPr lang="ru-RU" sz="2000" dirty="0">
                <a:solidFill>
                  <a:srgbClr val="1B3A5C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2165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dde261b16_2_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EDA</a:t>
            </a:r>
            <a:r>
              <a:rPr lang="ru-RU" sz="2600" i="1" dirty="0">
                <a:solidFill>
                  <a:srgbClr val="5B8DBF"/>
                </a:solidFill>
              </a:rPr>
              <a:t>   обзор данных</a:t>
            </a:r>
          </a:p>
        </p:txBody>
      </p:sp>
      <p:sp>
        <p:nvSpPr>
          <p:cNvPr id="116" name="Google Shape;116;g3ddde261b16_2_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3000"/>
              </a:lnSpc>
              <a:spcAft>
                <a:spcPts val="600"/>
              </a:spcAft>
              <a:buNone/>
            </a:pPr>
            <a:r>
              <a:rPr lang="en-US" sz="4400" b="1" dirty="0">
                <a:solidFill>
                  <a:srgbClr val="2E5984"/>
                </a:solidFill>
              </a:rPr>
              <a:t>4 598</a:t>
            </a:r>
            <a:r>
              <a:rPr lang="ru-RU" sz="2600" dirty="0">
                <a:solidFill>
                  <a:srgbClr val="2E5984"/>
                </a:solidFill>
              </a:rPr>
              <a:t>  наблюдений ·  </a:t>
            </a:r>
            <a:r>
              <a:rPr lang="en-US" sz="4400" b="1" dirty="0">
                <a:solidFill>
                  <a:srgbClr val="2E5984"/>
                </a:solidFill>
              </a:rPr>
              <a:t>31</a:t>
            </a:r>
            <a:r>
              <a:rPr lang="ru-RU" sz="2600" dirty="0">
                <a:solidFill>
                  <a:srgbClr val="2E5984"/>
                </a:solidFill>
              </a:rPr>
              <a:t>  признак</a:t>
            </a:r>
          </a:p>
          <a:p>
            <a:pPr marL="228600" indent="-228600">
              <a:lnSpc>
                <a:spcPts val="3000"/>
              </a:lnSpc>
              <a:spcBef>
                <a:spcPts val="6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600" b="1" dirty="0">
                <a:solidFill>
                  <a:srgbClr val="1B3A5C"/>
                </a:solidFill>
              </a:rPr>
              <a:t>38,8 %</a:t>
            </a:r>
            <a:r>
              <a:rPr lang="ru-RU" sz="2600" dirty="0">
                <a:solidFill>
                  <a:srgbClr val="1B3A5C"/>
                </a:solidFill>
              </a:rPr>
              <a:t> с высшим образованием</a:t>
            </a:r>
          </a:p>
          <a:p>
            <a:pPr marL="228600" indent="-228600">
              <a:lnSpc>
                <a:spcPts val="3000"/>
              </a:lnSpc>
              <a:spcBef>
                <a:spcPts val="2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Перекос в сторону женщин — </a:t>
            </a:r>
            <a:r>
              <a:rPr lang="ru-RU" sz="2600" b="1" dirty="0">
                <a:solidFill>
                  <a:srgbClr val="1B3A5C"/>
                </a:solidFill>
              </a:rPr>
              <a:t>58 %</a:t>
            </a:r>
          </a:p>
          <a:p>
            <a:pPr marL="228600" indent="-228600">
              <a:lnSpc>
                <a:spcPts val="3000"/>
              </a:lnSpc>
              <a:spcBef>
                <a:spcPts val="2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Выраженные зависимости от возраста</a:t>
            </a:r>
          </a:p>
          <a:p>
            <a:pPr marL="228600" indent="-228600">
              <a:lnSpc>
                <a:spcPts val="3000"/>
              </a:lnSpc>
              <a:spcBef>
                <a:spcPts val="2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Проблема выявляемости заболеваний</a:t>
            </a:r>
          </a:p>
        </p:txBody>
      </p:sp>
      <p:pic>
        <p:nvPicPr>
          <p:cNvPr id="117" name="Google Shape;117;g3ddde261b16_2_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66000" y="1841500"/>
            <a:ext cx="3517900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g3ddde261b16_2_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96100" y="4064000"/>
            <a:ext cx="4445000" cy="2222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27955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533f5f231e54c39a_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EDA</a:t>
            </a:r>
            <a:r>
              <a:rPr lang="ru-RU" sz="2600" i="1" dirty="0">
                <a:solidFill>
                  <a:srgbClr val="5B8DBF"/>
                </a:solidFill>
              </a:rPr>
              <a:t>   распределения переменных</a:t>
            </a:r>
          </a:p>
        </p:txBody>
      </p:sp>
      <p:pic>
        <p:nvPicPr>
          <p:cNvPr id="124" name="Google Shape;124;g533f5f231e54c39a_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2069996"/>
            <a:ext cx="5918877" cy="160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g533f5f231e54c39a_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48777" y="1685375"/>
            <a:ext cx="4242826" cy="434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g533f5f231e54c39a_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3050" y="4156345"/>
            <a:ext cx="7029172" cy="13257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75304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dde261b16_2_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Probit</a:t>
            </a:r>
            <a:r>
              <a:rPr lang="ru-RU" sz="2600" i="1" dirty="0">
                <a:solidFill>
                  <a:srgbClr val="5B8DBF"/>
                </a:solidFill>
              </a:rPr>
              <a:t>   двухшаговый CFA</a:t>
            </a:r>
          </a:p>
        </p:txBody>
      </p:sp>
      <p:sp>
        <p:nvSpPr>
          <p:cNvPr id="132" name="Google Shape;132;g3ddde261b16_2_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2200"/>
              </a:lnSpc>
              <a:spcAft>
                <a:spcPts val="500"/>
              </a:spcAft>
              <a:buNone/>
            </a:pPr>
            <a:r>
              <a:rPr lang="ru-RU" sz="1900" b="1" dirty="0">
                <a:solidFill>
                  <a:srgbClr val="2E5984"/>
                </a:solidFill>
              </a:rPr>
              <a:t>Идея </a:t>
            </a:r>
            <a:r>
              <a:rPr lang="ru-RU" sz="1900" dirty="0">
                <a:solidFill>
                  <a:srgbClr val="1B3A5C"/>
                </a:solidFill>
              </a:rPr>
              <a:t>— очистить оценки от эндогенности через метод контрольной функции.</a:t>
            </a:r>
          </a:p>
          <a:p>
            <a:pPr marL="228600" indent="-228600">
              <a:lnSpc>
                <a:spcPts val="2600"/>
              </a:lnSpc>
              <a:spcBef>
                <a:spcPts val="4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200" b="1" dirty="0">
                <a:solidFill>
                  <a:srgbClr val="2E5984"/>
                </a:solidFill>
              </a:rPr>
              <a:t>Шаг 1. </a:t>
            </a:r>
            <a:r>
              <a:rPr lang="ru-RU" sz="2200" dirty="0">
                <a:solidFill>
                  <a:srgbClr val="1B3A5C"/>
                </a:solidFill>
              </a:rPr>
              <a:t>Probit для каждой эндогенной переменной + инструменты → обобщённые остатки.</a:t>
            </a:r>
          </a:p>
          <a:p>
            <a:pPr marL="228600" indent="-228600">
              <a:lnSpc>
                <a:spcPts val="2600"/>
              </a:lnSpc>
              <a:spcBef>
                <a:spcPts val="2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200" b="1" dirty="0">
                <a:solidFill>
                  <a:srgbClr val="2E5984"/>
                </a:solidFill>
              </a:rPr>
              <a:t>Шаг 2. </a:t>
            </a:r>
            <a:r>
              <a:rPr lang="ru-RU" sz="2200" dirty="0">
                <a:solidFill>
                  <a:srgbClr val="1B3A5C"/>
                </a:solidFill>
              </a:rPr>
              <a:t>Включаем остатки в основное уравнение здоровья.</a:t>
            </a:r>
          </a:p>
          <a:p>
            <a:pPr marL="228600" indent="-228600">
              <a:lnSpc>
                <a:spcPts val="2600"/>
              </a:lnSpc>
              <a:spcBef>
                <a:spcPts val="200"/>
              </a:spcBef>
              <a:buClr>
                <a:srgbClr val="5B8DBF"/>
              </a:buClr>
              <a:buFont typeface="Arial"/>
              <a:buChar char="•"/>
            </a:pPr>
            <a:r>
              <a:rPr lang="ru-RU" sz="2200" dirty="0">
                <a:solidFill>
                  <a:srgbClr val="1B3A5C"/>
                </a:solidFill>
              </a:rPr>
              <a:t>Тест Вальда → проверка экзогенности.</a:t>
            </a:r>
          </a:p>
          <a:p>
            <a:pPr>
              <a:lnSpc>
                <a:spcPts val="2600"/>
              </a:lnSpc>
              <a:spcBef>
                <a:spcPts val="500"/>
              </a:spcBef>
              <a:buNone/>
            </a:pPr>
            <a:r>
              <a:rPr lang="ru-RU" sz="2200" i="1" dirty="0">
                <a:solidFill>
                  <a:srgbClr val="3D6A94"/>
                </a:solidFill>
              </a:rPr>
              <a:t>Итого 17 индикаторов × 2 пола = </a:t>
            </a:r>
            <a:r>
              <a:rPr lang="en-US" sz="2200" b="1" dirty="0">
                <a:solidFill>
                  <a:srgbClr val="2E5984"/>
                </a:solidFill>
              </a:rPr>
              <a:t>34 модели</a:t>
            </a:r>
            <a:r>
              <a:rPr lang="ru-RU" sz="2200" i="1" dirty="0">
                <a:solidFill>
                  <a:srgbClr val="3D6A94"/>
                </a:solidFill>
              </a:rPr>
              <a:t>.</a:t>
            </a:r>
          </a:p>
        </p:txBody>
      </p:sp>
      <p:pic>
        <p:nvPicPr>
          <p:cNvPr id="133" name="Google Shape;133;g3ddde261b1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8106" y="4419896"/>
            <a:ext cx="2857500" cy="9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g3ddde261b16_2_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8395" y="4915196"/>
            <a:ext cx="5537200" cy="1181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g3ddde261b16_2_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75279" y="3637259"/>
            <a:ext cx="3606800" cy="1143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0659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533f5f231e54c39a_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Мэтчинг</a:t>
            </a:r>
            <a:r>
              <a:rPr lang="ru-RU" sz="2600" i="1" dirty="0">
                <a:solidFill>
                  <a:srgbClr val="5B8DBF"/>
                </a:solidFill>
              </a:rPr>
              <a:t>   мужчины</a:t>
            </a:r>
          </a:p>
        </p:txBody>
      </p:sp>
      <p:sp>
        <p:nvSpPr>
          <p:cNvPr id="141" name="Google Shape;141;g533f5f231e54c39a_6"/>
          <p:cNvSpPr txBox="1">
            <a:spLocks noGrp="1"/>
          </p:cNvSpPr>
          <p:nvPr>
            <p:ph type="body" idx="1"/>
          </p:nvPr>
        </p:nvSpPr>
        <p:spPr>
          <a:xfrm>
            <a:off x="7048500" y="1841500"/>
            <a:ext cx="4826000" cy="355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2600"/>
              </a:lnSpc>
              <a:spcAft>
                <a:spcPts val="400"/>
              </a:spcAft>
              <a:buNone/>
            </a:pPr>
            <a:r>
              <a:rPr lang="ru-RU" sz="1700" b="1" dirty="0">
                <a:solidFill>
                  <a:srgbClr val="2E5984"/>
                </a:solidFill>
              </a:rPr>
              <a:t>Проблема. </a:t>
            </a:r>
            <a:r>
              <a:rPr lang="ru-RU" sz="1700" dirty="0">
                <a:solidFill>
                  <a:srgbClr val="1B3A5C"/>
                </a:solidFill>
              </a:rPr>
              <a:t>Люди с дипломом изначально отличаются по доходу, региону и привычкам.</a:t>
            </a:r>
          </a:p>
          <a:p>
            <a:pPr>
              <a:lnSpc>
                <a:spcPts val="26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ru-RU" sz="1700" b="1" dirty="0">
                <a:solidFill>
                  <a:srgbClr val="2E5984"/>
                </a:solidFill>
              </a:rPr>
              <a:t>Алгоритм. </a:t>
            </a:r>
            <a:r>
              <a:rPr lang="ru-RU" sz="1700" dirty="0">
                <a:solidFill>
                  <a:srgbClr val="1B3A5C"/>
                </a:solidFill>
              </a:rPr>
              <a:t>Propensity Score Matching + расстояние Махаланобиса.</a:t>
            </a:r>
          </a:p>
          <a:p>
            <a:pPr>
              <a:lnSpc>
                <a:spcPts val="2600"/>
              </a:lnSpc>
              <a:spcBef>
                <a:spcPts val="500"/>
              </a:spcBef>
              <a:buNone/>
            </a:pPr>
            <a:r>
              <a:rPr lang="ru-RU" sz="1700" b="1" dirty="0">
                <a:solidFill>
                  <a:srgbClr val="3D6A94"/>
                </a:solidFill>
              </a:rPr>
              <a:t>У мужчин: </a:t>
            </a:r>
            <a:r>
              <a:rPr lang="ru-RU" sz="1700" dirty="0">
                <a:solidFill>
                  <a:srgbClr val="1B3A5C"/>
                </a:solidFill>
              </a:rPr>
              <a:t>значимо повышен риск глазных заболеваний и гипертонии.</a:t>
            </a:r>
          </a:p>
        </p:txBody>
      </p:sp>
      <p:pic>
        <p:nvPicPr>
          <p:cNvPr id="142" name="Google Shape;142;g533f5f231e54c39a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500" y="1968500"/>
            <a:ext cx="6350000" cy="350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g533f5f231e54c39a_6"/>
          <p:cNvSpPr txBox="1"/>
          <p:nvPr/>
        </p:nvSpPr>
        <p:spPr>
          <a:xfrm>
            <a:off x="457200" y="5486400"/>
            <a:ext cx="6350000" cy="4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buNone/>
            </a:pPr>
            <a:r>
              <a:rPr lang="ru-RU" sz="1900" i="1" dirty="0">
                <a:solidFill>
                  <a:srgbClr val="3D6A94"/>
                </a:solidFill>
              </a:rPr>
              <a:t>Результаты мэтчинга для мужчин (α = 0,1)</a:t>
            </a:r>
          </a:p>
        </p:txBody>
      </p:sp>
    </p:spTree>
    <p:extLst>
      <p:ext uri="{BB962C8B-B14F-4D97-AF65-F5344CB8AC3E}">
        <p14:creationId xmlns:p14="http://schemas.microsoft.com/office/powerpoint/2010/main" val="72248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dd71485ef_0_5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Мэтчинг</a:t>
            </a:r>
            <a:r>
              <a:rPr lang="ru-RU" sz="2600" i="1" dirty="0">
                <a:solidFill>
                  <a:srgbClr val="5B8DBF"/>
                </a:solidFill>
              </a:rPr>
              <a:t>   женщины</a:t>
            </a:r>
          </a:p>
        </p:txBody>
      </p:sp>
      <p:pic>
        <p:nvPicPr>
          <p:cNvPr id="149" name="Google Shape;149;g3ddd71485ef_0_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0400" y="2095500"/>
            <a:ext cx="6007100" cy="334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g3ddd71485ef_0_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7500" y="3556000"/>
            <a:ext cx="5245100" cy="92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g3ddd71485ef_0_5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67500" y="2222500"/>
            <a:ext cx="5257800" cy="7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g3ddd71485ef_0_50"/>
          <p:cNvSpPr txBox="1"/>
          <p:nvPr/>
        </p:nvSpPr>
        <p:spPr>
          <a:xfrm>
            <a:off x="6921500" y="17399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buNone/>
            </a:pPr>
            <a:r>
              <a:rPr lang="ru-RU" sz="2600" b="1" dirty="0">
                <a:solidFill>
                  <a:srgbClr val="2E5984"/>
                </a:solidFill>
              </a:rPr>
              <a:t>Степень склонности</a:t>
            </a:r>
          </a:p>
        </p:txBody>
      </p:sp>
      <p:sp>
        <p:nvSpPr>
          <p:cNvPr id="154" name="Google Shape;154;g3ddd71485ef_0_50"/>
          <p:cNvSpPr txBox="1"/>
          <p:nvPr/>
        </p:nvSpPr>
        <p:spPr>
          <a:xfrm>
            <a:off x="6921500" y="3048000"/>
            <a:ext cx="4826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buNone/>
            </a:pPr>
            <a:r>
              <a:rPr lang="ru-RU" sz="2600" b="1" dirty="0">
                <a:solidFill>
                  <a:srgbClr val="2E5984"/>
                </a:solidFill>
              </a:rPr>
              <a:t>Расстояние Махаланобиса</a:t>
            </a:r>
          </a:p>
        </p:txBody>
      </p:sp>
    </p:spTree>
    <p:extLst>
      <p:ext uri="{BB962C8B-B14F-4D97-AF65-F5344CB8AC3E}">
        <p14:creationId xmlns:p14="http://schemas.microsoft.com/office/powerpoint/2010/main" val="2761713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dd71485ef_0_5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Double ML</a:t>
            </a:r>
            <a:endParaRPr lang="ru-RU" sz="2600" i="1" dirty="0">
              <a:solidFill>
                <a:srgbClr val="5B8DBF"/>
              </a:solidFill>
            </a:endParaRPr>
          </a:p>
        </p:txBody>
      </p:sp>
      <p:sp>
        <p:nvSpPr>
          <p:cNvPr id="160" name="Google Shape;160;g3ddd71485ef_0_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2200"/>
              </a:lnSpc>
              <a:buNone/>
            </a:pPr>
            <a:r>
              <a:rPr lang="ru-RU" sz="1900" dirty="0">
                <a:solidFill>
                  <a:srgbClr val="1B3A5C"/>
                </a:solidFill>
              </a:rPr>
              <a:t>Дополняем подход авторов современным инструментом — </a:t>
            </a:r>
            <a:r>
              <a:rPr lang="ru-RU" sz="1900" b="1" dirty="0">
                <a:solidFill>
                  <a:srgbClr val="2E5984"/>
                </a:solidFill>
              </a:rPr>
              <a:t>Double Machine Learning</a:t>
            </a:r>
            <a:endParaRPr lang="ru-RU" sz="1900" b="1" dirty="0">
              <a:solidFill>
                <a:srgbClr val="1B3A5C"/>
              </a:solidFill>
            </a:endParaRPr>
          </a:p>
          <a:p>
            <a:pPr>
              <a:lnSpc>
                <a:spcPts val="2200"/>
              </a:lnSpc>
              <a:buNone/>
            </a:pPr>
            <a:r>
              <a:rPr lang="ru-RU" sz="2200" i="1" dirty="0">
                <a:solidFill>
                  <a:srgbClr val="3D6A94"/>
                </a:solidFill>
              </a:rPr>
              <a:t>Зачем: робастная оценка ATE при произвольно сложной зависимости от ковариатов.</a:t>
            </a:r>
          </a:p>
        </p:txBody>
      </p:sp>
      <p:pic>
        <p:nvPicPr>
          <p:cNvPr id="161" name="Google Shape;161;g3ddd71485ef_0_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5000" y="3175000"/>
            <a:ext cx="8191500" cy="120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g3ddd71485ef_0_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84500" y="4571999"/>
            <a:ext cx="4279900" cy="139286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4656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ddd71485ef_0_7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Double ML</a:t>
            </a:r>
            <a:r>
              <a:rPr lang="ru-RU" sz="2600" i="1" dirty="0">
                <a:solidFill>
                  <a:srgbClr val="5B8DBF"/>
                </a:solidFill>
              </a:rPr>
              <a:t>   процесс обучения моделей</a:t>
            </a:r>
          </a:p>
        </p:txBody>
      </p:sp>
      <p:sp>
        <p:nvSpPr>
          <p:cNvPr id="168" name="Google Shape;168;g3ddd71485ef_0_7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Для болезней со значимым эффектом — </a:t>
            </a:r>
            <a:r>
              <a:rPr lang="ru-RU" sz="2600" b="1" dirty="0">
                <a:solidFill>
                  <a:srgbClr val="2E5984"/>
                </a:solidFill>
              </a:rPr>
              <a:t>3 модели</a:t>
            </a:r>
            <a:r>
              <a:rPr lang="ru-RU" sz="2600" dirty="0">
                <a:solidFill>
                  <a:srgbClr val="1B3A5C"/>
                </a:solidFill>
              </a:rPr>
              <a:t>: LDA, Random Forest, XGBoost.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Для остальных — только </a:t>
            </a:r>
            <a:r>
              <a:rPr lang="ru-RU" sz="2600" b="1" dirty="0">
                <a:solidFill>
                  <a:srgbClr val="2E5984"/>
                </a:solidFill>
              </a:rPr>
              <a:t>Random Forest</a:t>
            </a:r>
            <a:r>
              <a:rPr lang="ru-RU" sz="2600" dirty="0">
                <a:solidFill>
                  <a:srgbClr val="1B3A5C"/>
                </a:solidFill>
              </a:rPr>
              <a:t>, чтобы не раздувать вычисления.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b="1" dirty="0">
                <a:solidFill>
                  <a:srgbClr val="2E5984"/>
                </a:solidFill>
              </a:rPr>
              <a:t>3-fold cross-validation</a:t>
            </a:r>
            <a:r>
              <a:rPr lang="ru-RU" sz="2600" dirty="0">
                <a:solidFill>
                  <a:srgbClr val="1B3A5C"/>
                </a:solidFill>
              </a:rPr>
              <a:t> + подбор гиперпараметров через </a:t>
            </a:r>
            <a:r>
              <a:rPr lang="ru-RU" sz="2600" b="1" dirty="0">
                <a:solidFill>
                  <a:srgbClr val="2E5984"/>
                </a:solidFill>
              </a:rPr>
              <a:t>Optuna</a:t>
            </a:r>
            <a:r>
              <a:rPr lang="ru-RU" sz="2600" dirty="0">
                <a:solidFill>
                  <a:srgbClr val="1B3A5C"/>
                </a:solidFill>
              </a:rPr>
              <a:t>.</a:t>
            </a:r>
          </a:p>
          <a:p>
            <a:pPr marL="228600" indent="-228600">
              <a:lnSpc>
                <a:spcPts val="3000"/>
              </a:lnSpc>
              <a:buClr>
                <a:srgbClr val="5B8DBF"/>
              </a:buClr>
              <a:buFont typeface="Arial"/>
              <a:buChar char="•"/>
            </a:pPr>
            <a:r>
              <a:rPr lang="ru-RU" sz="2600" i="1" dirty="0">
                <a:solidFill>
                  <a:srgbClr val="3D6A94"/>
                </a:solidFill>
              </a:rPr>
              <a:t>Сравнение моделей повышает надёжность вывода об ATE.</a:t>
            </a:r>
          </a:p>
        </p:txBody>
      </p:sp>
    </p:spTree>
    <p:extLst>
      <p:ext uri="{BB962C8B-B14F-4D97-AF65-F5344CB8AC3E}">
        <p14:creationId xmlns:p14="http://schemas.microsoft.com/office/powerpoint/2010/main" val="3154190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ddd71485ef_0_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Double ML</a:t>
            </a:r>
            <a:r>
              <a:rPr lang="ru-RU" sz="2600" i="1" dirty="0">
                <a:solidFill>
                  <a:srgbClr val="5B8DBF"/>
                </a:solidFill>
              </a:rPr>
              <a:t>   ATE</a:t>
            </a:r>
          </a:p>
        </p:txBody>
      </p:sp>
      <p:pic>
        <p:nvPicPr>
          <p:cNvPr id="174" name="Google Shape;174;g3ddd71485ef_0_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5500" y="712221"/>
            <a:ext cx="3982886" cy="5764779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g3ddd71485ef_0_27"/>
          <p:cNvSpPr txBox="1"/>
          <p:nvPr/>
        </p:nvSpPr>
        <p:spPr>
          <a:xfrm>
            <a:off x="342900" y="1841500"/>
            <a:ext cx="5334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ru-RU" sz="2600" b="1" dirty="0">
                <a:solidFill>
                  <a:srgbClr val="2E5984"/>
                </a:solidFill>
              </a:rPr>
              <a:t>Эффект различается по полу</a:t>
            </a:r>
          </a:p>
        </p:txBody>
      </p:sp>
      <p:sp>
        <p:nvSpPr>
          <p:cNvPr id="176" name="Google Shape;176;g3ddd71485ef_0_27"/>
          <p:cNvSpPr txBox="1"/>
          <p:nvPr/>
        </p:nvSpPr>
        <p:spPr>
          <a:xfrm>
            <a:off x="342900" y="2286000"/>
            <a:ext cx="5334000" cy="4339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ts val="2600"/>
              </a:lnSpc>
              <a:spcAft>
                <a:spcPts val="400"/>
              </a:spcAft>
              <a:buNone/>
            </a:pPr>
            <a:r>
              <a:rPr lang="ru-RU" sz="1700" b="1" dirty="0">
                <a:solidFill>
                  <a:srgbClr val="3D6A94"/>
                </a:solidFill>
              </a:rPr>
              <a:t>Женщины. </a:t>
            </a:r>
            <a:r>
              <a:rPr lang="ru-RU" sz="1700" dirty="0">
                <a:solidFill>
                  <a:srgbClr val="1B3A5C"/>
                </a:solidFill>
              </a:rPr>
              <a:t>Высшее снижает риск болезней лёгких, суставов, вен, почек и гипертонии; повышает субъективную оценку здоровья.</a:t>
            </a:r>
          </a:p>
          <a:p>
            <a:pPr>
              <a:lnSpc>
                <a:spcPts val="2600"/>
              </a:lnSpc>
              <a:spcBef>
                <a:spcPts val="400"/>
              </a:spcBef>
              <a:buNone/>
            </a:pPr>
            <a:r>
              <a:rPr lang="ru-RU" sz="1700" b="1" dirty="0">
                <a:solidFill>
                  <a:srgbClr val="3D6A94"/>
                </a:solidFill>
              </a:rPr>
              <a:t>Мужчины. </a:t>
            </a:r>
            <a:r>
              <a:rPr lang="ru-RU" sz="1700" dirty="0">
                <a:solidFill>
                  <a:srgbClr val="1B3A5C"/>
                </a:solidFill>
              </a:rPr>
              <a:t>Снижает проблемы со спиной, но повышает выявляемость гипертонии, глазных, сердечно-сосудистых и неврологических заболеваний.</a:t>
            </a:r>
          </a:p>
          <a:p>
            <a:pPr>
              <a:lnSpc>
                <a:spcPts val="2600"/>
              </a:lnSpc>
              <a:spcBef>
                <a:spcPts val="400"/>
              </a:spcBef>
              <a:buNone/>
            </a:pPr>
            <a:r>
              <a:rPr lang="ru-RU" sz="2600" i="1" dirty="0">
                <a:solidFill>
                  <a:srgbClr val="3D6A94"/>
                </a:solidFill>
              </a:rPr>
              <a:t>Контр-интуитивный рост рисков, вероятно, отражает более частые медобследования и профессиональные нагрузки (зрение).</a:t>
            </a:r>
          </a:p>
        </p:txBody>
      </p:sp>
    </p:spTree>
    <p:extLst>
      <p:ext uri="{BB962C8B-B14F-4D97-AF65-F5344CB8AC3E}">
        <p14:creationId xmlns:p14="http://schemas.microsoft.com/office/powerpoint/2010/main" val="4178803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dd71485ef_0_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Double ML</a:t>
            </a:r>
            <a:r>
              <a:rPr lang="ru-RU" sz="2600" i="1" dirty="0">
                <a:solidFill>
                  <a:srgbClr val="5B8DBF"/>
                </a:solidFill>
              </a:rPr>
              <a:t>   гетерогенный эффект</a:t>
            </a:r>
          </a:p>
        </p:txBody>
      </p:sp>
      <p:pic>
        <p:nvPicPr>
          <p:cNvPr id="182" name="Google Shape;182;g3ddd71485ef_0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9882" y="2705986"/>
            <a:ext cx="5528341" cy="236607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g3ddd71485ef_0_38"/>
          <p:cNvSpPr txBox="1"/>
          <p:nvPr/>
        </p:nvSpPr>
        <p:spPr>
          <a:xfrm>
            <a:off x="6145027" y="5072062"/>
            <a:ext cx="5311553" cy="1000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>
              <a:buNone/>
            </a:pPr>
            <a:r>
              <a:rPr lang="ru-RU" sz="1900" i="1" dirty="0">
                <a:solidFill>
                  <a:srgbClr val="3D6A94"/>
                </a:solidFill>
              </a:rPr>
              <a:t>CATE по возрасту, мужчины — гипертония</a:t>
            </a:r>
          </a:p>
        </p:txBody>
      </p:sp>
      <p:sp>
        <p:nvSpPr>
          <p:cNvPr id="184" name="Google Shape;184;g3ddd71485ef_0_38"/>
          <p:cNvSpPr txBox="1"/>
          <p:nvPr/>
        </p:nvSpPr>
        <p:spPr>
          <a:xfrm>
            <a:off x="342900" y="1841500"/>
            <a:ext cx="4381500" cy="435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ts val="2200"/>
              </a:lnSpc>
              <a:spcAft>
                <a:spcPts val="500"/>
              </a:spcAft>
              <a:buNone/>
            </a:pPr>
            <a:r>
              <a:rPr lang="ru-RU" sz="1900" b="1" dirty="0">
                <a:solidFill>
                  <a:srgbClr val="2E5984"/>
                </a:solidFill>
              </a:rPr>
              <a:t>Идём дальше — оцениваем CATE.</a:t>
            </a:r>
          </a:p>
          <a:p>
            <a:pPr>
              <a:lnSpc>
                <a:spcPts val="2600"/>
              </a:lnSpc>
              <a:spcAft>
                <a:spcPts val="400"/>
              </a:spcAft>
              <a:buNone/>
            </a:pPr>
            <a:r>
              <a:rPr lang="ru-RU" sz="2200" dirty="0">
                <a:solidFill>
                  <a:srgbClr val="1B3A5C"/>
                </a:solidFill>
              </a:rPr>
              <a:t>Проверяем, как эффект образования меняется в зависимости от возраста, дохода и других факторов.</a:t>
            </a:r>
          </a:p>
          <a:p>
            <a:pPr marL="228600" indent="-228600">
              <a:lnSpc>
                <a:spcPts val="2600"/>
              </a:lnSpc>
              <a:spcAft>
                <a:spcPts val="3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200" dirty="0">
                <a:solidFill>
                  <a:srgbClr val="1B3A5C"/>
                </a:solidFill>
              </a:rPr>
              <a:t>Эффект растёт с возрастом</a:t>
            </a:r>
          </a:p>
          <a:p>
            <a:pPr marL="228600" indent="-228600">
              <a:lnSpc>
                <a:spcPts val="2600"/>
              </a:lnSpc>
              <a:spcAft>
                <a:spcPts val="3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200" dirty="0">
                <a:solidFill>
                  <a:srgbClr val="1B3A5C"/>
                </a:solidFill>
              </a:rPr>
              <a:t>Усиливается у мужчин с более низким доходом</a:t>
            </a:r>
          </a:p>
          <a:p>
            <a:pPr>
              <a:lnSpc>
                <a:spcPts val="2600"/>
              </a:lnSpc>
              <a:spcBef>
                <a:spcPts val="500"/>
              </a:spcBef>
              <a:buNone/>
            </a:pPr>
            <a:r>
              <a:rPr lang="ru-RU" sz="1700" i="1" dirty="0">
                <a:solidFill>
                  <a:srgbClr val="3D6A94"/>
                </a:solidFill>
              </a:rPr>
              <a:t>Кажется, образование «подсвечивает» уже накопленные нагрузки, а не создаёт их.</a:t>
            </a:r>
          </a:p>
        </p:txBody>
      </p:sp>
    </p:spTree>
    <p:extLst>
      <p:ext uri="{BB962C8B-B14F-4D97-AF65-F5344CB8AC3E}">
        <p14:creationId xmlns:p14="http://schemas.microsoft.com/office/powerpoint/2010/main" val="2514992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d71485ef_0_4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en-US" sz="5400" b="0" dirty="0">
                <a:solidFill>
                  <a:srgbClr val="1B3A5C"/>
                </a:solidFill>
              </a:rPr>
              <a:t>Volcano</a:t>
            </a:r>
            <a:r>
              <a:rPr lang="ru-RU" sz="5400" b="0" dirty="0">
                <a:solidFill>
                  <a:srgbClr val="1B3A5C"/>
                </a:solidFill>
              </a:rPr>
              <a:t> </a:t>
            </a:r>
            <a:r>
              <a:rPr lang="en-US" sz="5400" b="0" dirty="0">
                <a:solidFill>
                  <a:srgbClr val="1B3A5C"/>
                </a:solidFill>
              </a:rPr>
              <a:t>plot</a:t>
            </a:r>
            <a:endParaRPr lang="ru-RU" sz="2600" i="1" dirty="0">
              <a:solidFill>
                <a:srgbClr val="5B8DBF"/>
              </a:solidFill>
            </a:endParaRPr>
          </a:p>
        </p:txBody>
      </p:sp>
      <p:pic>
        <p:nvPicPr>
          <p:cNvPr id="190" name="Google Shape;190;g3ddd71485ef_0_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0725" y="1918825"/>
            <a:ext cx="10320302" cy="46108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04963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dd71485ef_0_9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Выводы</a:t>
            </a:r>
            <a:endParaRPr lang="ru-RU" sz="2600" i="1" dirty="0">
              <a:solidFill>
                <a:srgbClr val="5B8DBF"/>
              </a:solidFill>
            </a:endParaRPr>
          </a:p>
        </p:txBody>
      </p:sp>
      <p:sp>
        <p:nvSpPr>
          <p:cNvPr id="198" name="Google Shape;198;g3ddd71485ef_0_9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Высшее образование значимо влияет на здоровье — но эффект </a:t>
            </a:r>
            <a:r>
              <a:rPr lang="ru-RU" sz="2600" b="1" dirty="0">
                <a:solidFill>
                  <a:srgbClr val="2E5984"/>
                </a:solidFill>
              </a:rPr>
              <a:t>не универсален</a:t>
            </a:r>
            <a:r>
              <a:rPr lang="ru-RU" sz="2600" dirty="0">
                <a:solidFill>
                  <a:srgbClr val="1B3A5C"/>
                </a:solidFill>
              </a:rPr>
              <a:t> и заметно различается по полу.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У женщин — преимущественно </a:t>
            </a:r>
            <a:r>
              <a:rPr lang="ru-RU" sz="2600" b="1" dirty="0">
                <a:solidFill>
                  <a:srgbClr val="2E5984"/>
                </a:solidFill>
              </a:rPr>
              <a:t>защитный эффект</a:t>
            </a:r>
            <a:r>
              <a:rPr lang="ru-RU" sz="2600" dirty="0">
                <a:solidFill>
                  <a:srgbClr val="1B3A5C"/>
                </a:solidFill>
              </a:rPr>
              <a:t>; у мужчин — рост выявляемости заболеваний.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Эффект </a:t>
            </a:r>
            <a:r>
              <a:rPr lang="ru-RU" sz="2600" b="1" dirty="0">
                <a:solidFill>
                  <a:srgbClr val="2E5984"/>
                </a:solidFill>
              </a:rPr>
              <a:t>растёт с возрастом</a:t>
            </a:r>
            <a:r>
              <a:rPr lang="ru-RU" sz="2600" dirty="0">
                <a:solidFill>
                  <a:srgbClr val="1B3A5C"/>
                </a:solidFill>
              </a:rPr>
              <a:t> и зависит от уровня дохода.</a:t>
            </a:r>
          </a:p>
          <a:p>
            <a:pPr marL="228600" indent="-228600">
              <a:lnSpc>
                <a:spcPts val="3000"/>
              </a:lnSpc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Двухшаговый Probit и Double ML дают согласующиеся результаты.</a:t>
            </a:r>
          </a:p>
        </p:txBody>
      </p:sp>
    </p:spTree>
    <p:extLst>
      <p:ext uri="{BB962C8B-B14F-4D97-AF65-F5344CB8AC3E}">
        <p14:creationId xmlns:p14="http://schemas.microsoft.com/office/powerpoint/2010/main" val="15641791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ddd71485ef_0_6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None/>
            </a:pPr>
            <a:r>
              <a:rPr lang="ru-RU" sz="5400" b="0" dirty="0">
                <a:solidFill>
                  <a:srgbClr val="1B3A5C"/>
                </a:solidFill>
              </a:rPr>
              <a:t>Использование ИИ</a:t>
            </a:r>
            <a:endParaRPr lang="ru-RU" sz="2600" i="1" dirty="0">
              <a:solidFill>
                <a:srgbClr val="5B8DBF"/>
              </a:solidFill>
            </a:endParaRPr>
          </a:p>
        </p:txBody>
      </p:sp>
      <p:sp>
        <p:nvSpPr>
          <p:cNvPr id="204" name="Google Shape;204;g3ddd71485ef_0_6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ChatGPT — точечная отладка кода и подсказки по библиотекам.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Claude — формулировки и редактура текста.</a:t>
            </a:r>
          </a:p>
          <a:p>
            <a:pPr marL="228600" indent="-228600">
              <a:lnSpc>
                <a:spcPts val="3000"/>
              </a:lnSpc>
              <a:spcAft>
                <a:spcPts val="500"/>
              </a:spcAft>
              <a:buClr>
                <a:srgbClr val="5B8DBF"/>
              </a:buClr>
              <a:buFont typeface="Arial"/>
              <a:buChar char="•"/>
            </a:pPr>
            <a:r>
              <a:rPr lang="ru-RU" sz="2600" dirty="0">
                <a:solidFill>
                  <a:srgbClr val="1B3A5C"/>
                </a:solidFill>
              </a:rPr>
              <a:t>Все методологические решения, расчёты и интерпретации — наши.</a:t>
            </a:r>
          </a:p>
        </p:txBody>
      </p:sp>
    </p:spTree>
    <p:extLst>
      <p:ext uri="{BB962C8B-B14F-4D97-AF65-F5344CB8AC3E}">
        <p14:creationId xmlns:p14="http://schemas.microsoft.com/office/powerpoint/2010/main" val="1795596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ddbe69b425_1_0"/>
          <p:cNvSpPr txBox="1">
            <a:spLocks noGrp="1"/>
          </p:cNvSpPr>
          <p:nvPr>
            <p:ph type="title"/>
          </p:nvPr>
        </p:nvSpPr>
        <p:spPr>
          <a:xfrm>
            <a:off x="1524000" y="2540000"/>
            <a:ext cx="9144000" cy="1778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buNone/>
            </a:pPr>
            <a:r>
              <a:rPr lang="ru-RU" sz="6600" b="0" dirty="0">
                <a:solidFill>
                  <a:srgbClr val="1B3A5C"/>
                </a:solidFill>
              </a:rPr>
              <a:t>Вопросы</a:t>
            </a:r>
          </a:p>
          <a:p>
            <a:pPr algn="ctr">
              <a:spcBef>
                <a:spcPts val="400"/>
              </a:spcBef>
              <a:buNone/>
            </a:pPr>
            <a:r>
              <a:rPr lang="ru-RU" sz="2600" i="1" dirty="0">
                <a:solidFill>
                  <a:srgbClr val="5B8DBF"/>
                </a:solidFill>
              </a:rPr>
              <a:t>будем рады ответить</a:t>
            </a:r>
          </a:p>
        </p:txBody>
      </p:sp>
    </p:spTree>
    <p:extLst>
      <p:ext uri="{BB962C8B-B14F-4D97-AF65-F5344CB8AC3E}">
        <p14:creationId xmlns:p14="http://schemas.microsoft.com/office/powerpoint/2010/main" val="1550175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ddbe69b425_1_5"/>
          <p:cNvSpPr txBox="1">
            <a:spLocks noGrp="1"/>
          </p:cNvSpPr>
          <p:nvPr>
            <p:ph type="title"/>
          </p:nvPr>
        </p:nvSpPr>
        <p:spPr>
          <a:xfrm>
            <a:off x="1524000" y="2540000"/>
            <a:ext cx="9144000" cy="1778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buNone/>
            </a:pPr>
            <a:r>
              <a:rPr lang="ru-RU" sz="7200" b="0" dirty="0">
                <a:solidFill>
                  <a:srgbClr val="1B3A5C"/>
                </a:solidFill>
              </a:rPr>
              <a:t>Спасибо</a:t>
            </a:r>
          </a:p>
          <a:p>
            <a:pPr algn="ctr">
              <a:spcBef>
                <a:spcPts val="400"/>
              </a:spcBef>
              <a:buNone/>
            </a:pPr>
            <a:r>
              <a:rPr lang="ru-RU" sz="2200" i="1" dirty="0">
                <a:solidFill>
                  <a:srgbClr val="5B8DBF"/>
                </a:solidFill>
              </a:rPr>
              <a:t>А. Карасев · Л. Панчеха · М. Удовиченко</a:t>
            </a:r>
          </a:p>
        </p:txBody>
      </p:sp>
    </p:spTree>
    <p:extLst>
      <p:ext uri="{BB962C8B-B14F-4D97-AF65-F5344CB8AC3E}">
        <p14:creationId xmlns:p14="http://schemas.microsoft.com/office/powerpoint/2010/main" val="3089108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095588350]">
  <a:themeElements>
    <a:clrScheme name="Office">
      <a:dk1>
        <a:srgbClr val="1B3A5C"/>
      </a:dk1>
      <a:lt1>
        <a:srgbClr val="F2F8FE"/>
      </a:lt1>
      <a:dk2>
        <a:srgbClr val="2E5984"/>
      </a:dk2>
      <a:lt2>
        <a:srgbClr val="DCEAF7"/>
      </a:lt2>
      <a:accent1>
        <a:srgbClr val="3B82C4"/>
      </a:accent1>
      <a:accent2>
        <a:srgbClr val="4FB8AF"/>
      </a:accent2>
      <a:accent3>
        <a:srgbClr val="E89E4D"/>
      </a:accent3>
      <a:accent4>
        <a:srgbClr val="C7568C"/>
      </a:accent4>
      <a:accent5>
        <a:srgbClr val="8E7CC3"/>
      </a:accent5>
      <a:accent6>
        <a:srgbClr val="5BA876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nstant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93129C1-164C-4533-AA42-23D3624A962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34a4caba-90e6-471c-b9fc-3a08402be0c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604</Words>
  <Application>Microsoft Office PowerPoint</Application>
  <PresentationFormat>Широкоэкранный</PresentationFormat>
  <Paragraphs>82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 [1778095588350]</vt:lpstr>
      <vt:lpstr>Высшее образование и здоровье Причинно-следственная связь</vt:lpstr>
      <vt:lpstr>План</vt:lpstr>
      <vt:lpstr>Введение</vt:lpstr>
      <vt:lpstr>Введение</vt:lpstr>
      <vt:lpstr>Исходная статья</vt:lpstr>
      <vt:lpstr>EDA   обзор данных</vt:lpstr>
      <vt:lpstr>EDA   распределения переменных</vt:lpstr>
      <vt:lpstr>Probit   двухшаговый CFA</vt:lpstr>
      <vt:lpstr>Мэтчинг   мужчины</vt:lpstr>
      <vt:lpstr>Мэтчинг   женщины</vt:lpstr>
      <vt:lpstr>Double ML</vt:lpstr>
      <vt:lpstr>Double ML   процесс обучения моделей</vt:lpstr>
      <vt:lpstr>Double ML   ATE</vt:lpstr>
      <vt:lpstr>Double ML   гетерогенный эффект</vt:lpstr>
      <vt:lpstr>Volcano plot</vt:lpstr>
      <vt:lpstr>Выводы</vt:lpstr>
      <vt:lpstr>Использование ИИ</vt:lpstr>
      <vt:lpstr>Вопросы будем рады ответить</vt:lpstr>
      <vt:lpstr>Спасибо А. Карасев · Л. Панчеха · М. Удовиченко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Высшее образование и здоровье Причинно-следственная связь</dc:title>
  <dc:creator>Alex Kaa</dc:creator>
  <cp:lastModifiedBy>Карасев Алексей (WA)</cp:lastModifiedBy>
  <cp:revision>10</cp:revision>
  <dcterms:created xsi:type="dcterms:W3CDTF">2026-05-04T14:11:40Z</dcterms:created>
  <dcterms:modified xsi:type="dcterms:W3CDTF">2026-05-11T19:12:15Z</dcterms:modified>
</cp:coreProperties>
</file>